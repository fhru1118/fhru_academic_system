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85800"/>
            <a:ext cx="566928" cy="566928"/>
          </a:xfrm>
          <a:prstGeom prst="round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749808"/>
            <a:ext cx="3657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 i="0">
                <a:solidFill>
                  <a:srgbClr val="2B2823"/>
                </a:solidFill>
                <a:latin typeface="Microsoft YaHei"/>
              </a:rPr>
              <a:t>研习台  RESEARCH ·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78992"/>
            <a:ext cx="3657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 i="0">
                <a:solidFill>
                  <a:srgbClr val="8C8475"/>
                </a:solidFill>
                <a:latin typeface="Microsoft YaHei"/>
              </a:rPr>
              <a:t>科研与生活工作台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1097280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800" b="1" i="0">
                <a:solidFill>
                  <a:srgbClr val="2B2823"/>
                </a:solidFill>
                <a:latin typeface="Microsoft YaHei"/>
              </a:rPr>
              <a:t>用 AI 重塑开放性知识工作
——「研习台」科研工作台的设计与实践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1005840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>
                <a:solidFill>
                  <a:srgbClr val="5C554B"/>
                </a:solidFill>
                <a:latin typeface="Microsoft YaHei"/>
              </a:rPr>
              <a:t>一个纯前端、跨端同步、由开放 AI 能力驱动的科研与生活工作台：
把海量顶刊与零散灵感，转化为「可行动的科研线索」。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8C8475"/>
                </a:solidFill>
                <a:latin typeface="Microsoft YaHei"/>
              </a:rPr>
              <a:t>汇报人：_______      方向：技术经济与管理      日期：2026.09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 / 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5953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本次汇报的三条主线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2000" b="1">
                <a:solidFill>
                  <a:srgbClr val="C2683B"/>
                </a:solidFill>
                <a:latin typeface="Microsoft YaHei"/>
              </a:rPr>
              <a:t>01</a:t>
            </a:r>
            <a:r>
              <a:rPr sz="1600" b="1">
                <a:solidFill>
                  <a:srgbClr val="2B2823"/>
                </a:solidFill>
                <a:latin typeface="Microsoft YaHei"/>
              </a:rPr>
              <a:t>   设计思路与亮点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8C8475"/>
                </a:solidFill>
                <a:latin typeface="Microsoft YaHei"/>
              </a:rPr>
              <a:t>        为什么做、做什么、独特在哪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2000" b="1">
                <a:solidFill>
                  <a:srgbClr val="C2683B"/>
                </a:solidFill>
                <a:latin typeface="Microsoft YaHei"/>
              </a:rPr>
              <a:t>02</a:t>
            </a:r>
            <a:r>
              <a:rPr sz="1600" b="1">
                <a:solidFill>
                  <a:srgbClr val="2B2823"/>
                </a:solidFill>
                <a:latin typeface="Microsoft YaHei"/>
              </a:rPr>
              <a:t>   技术路线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8C8475"/>
                </a:solidFill>
                <a:latin typeface="Microsoft YaHei"/>
              </a:rPr>
              <a:t>        多端同步实现 + 可复用的工程实践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2000" b="1">
                <a:solidFill>
                  <a:srgbClr val="C2683B"/>
                </a:solidFill>
                <a:latin typeface="Microsoft YaHei"/>
              </a:rPr>
              <a:t>03</a:t>
            </a:r>
            <a:r>
              <a:rPr sz="1600" b="1">
                <a:solidFill>
                  <a:srgbClr val="2B2823"/>
                </a:solidFill>
                <a:latin typeface="Microsoft YaHei"/>
              </a:rPr>
              <a:t>   其他思考与展望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8C8475"/>
                </a:solidFill>
                <a:latin typeface="Microsoft YaHei"/>
              </a:rPr>
              <a:t>        方法论、元实践、局限与下一步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33756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/>
          <a:lstStyle/>
          <a:p>
            <a:pPr algn="ctr"/>
            <a:r>
              <a:rPr sz="2000" b="1">
                <a:solidFill>
                  <a:srgbClr val="C2683B"/>
                </a:solidFill>
                <a:latin typeface="Microsoft YaHei"/>
              </a:rPr>
              <a:t>+</a:t>
            </a:r>
            <a:r>
              <a:rPr sz="1600" b="1">
                <a:solidFill>
                  <a:srgbClr val="2B2823"/>
                </a:solidFill>
                <a:latin typeface="Microsoft YaHei"/>
              </a:rPr>
              <a:t>   演示与 Q&amp;A</a:t>
            </a:r>
          </a:p>
          <a:p>
            <a:pPr>
              <a:spcBef>
                <a:spcPts val="300"/>
              </a:spcBef>
            </a:pPr>
            <a:r>
              <a:rPr sz="1250">
                <a:solidFill>
                  <a:srgbClr val="8C8475"/>
                </a:solidFill>
                <a:latin typeface="Microsoft YaHei"/>
              </a:rPr>
              <a:t>        结合真实界面走查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Why · 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开放性知识工作的真实困境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>信息散落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工具太多，线索太碎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选题、文献、笔记、日程、生活记录分散在 5+ 个 App，缺少统一工作台。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82880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>收藏 ≠ 理解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「存了」不等于「读了」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顶刊论文收藏即结束；摘要是英文、方法陌生，阅读门槛高。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52044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>跨端割裂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电脑写、手机记，对不上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实验室用电脑、通勤用手机，数据不互通，灵感难落地。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520440"/>
            <a:ext cx="534924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A4502B"/>
                </a:solidFill>
                <a:latin typeface="Microsoft YaHei"/>
              </a:rPr>
              <a:t>被动接收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信息过载，缺乏过滤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推送 overwhelms；缺少「与我方向相关」的筛选，注意力被稀释。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52160"/>
            <a:ext cx="107899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 i="0">
                <a:solidFill>
                  <a:srgbClr val="A4502B"/>
                </a:solidFill>
                <a:latin typeface="Microsoft YaHei"/>
              </a:rPr>
              <a:t>→ 研习台的目标：把「信息流」变成「可行动的科研线索」，让 AI 替你做过滤、翻译与结构化。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What · 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研习台 = 科研与生活的统一工作台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5C554B"/>
                </a:solidFill>
                <a:latin typeface="Microsoft YaHei"/>
              </a:rPr>
              <a:t>一个打开网页即用的工具：数据自主、AI 辅助、跨端无缝。无后端、无账号、零成本部署。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🗂 科研主线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顶刊每日推荐、论文追踪（选题→投稿→录用）、项目、方向、研读笔记、成果档案。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1945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🌱 生活侧写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运动、阅读观影、旅行、习惯打卡，以及周/月/年阶段回顾。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194560"/>
            <a:ext cx="35204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⚡ 低摩擦捕获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悬浮按钮 + 底部速记面板，灵感/选题/文献/待办一键入箱。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297680"/>
            <a:ext cx="2926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B2823"/>
                </a:solidFill>
                <a:latin typeface="Microsoft YaHei"/>
              </a:rPr>
              <a:t>📱 移动端 随手记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23360" y="4709160"/>
            <a:ext cx="914400" cy="0"/>
          </a:xfrm>
          <a:prstGeom prst="line">
            <a:avLst/>
          </a:prstGeom>
          <a:ln w="25400">
            <a:solidFill>
              <a:srgbClr val="C2683B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937760" y="4297680"/>
            <a:ext cx="2377440" cy="822960"/>
          </a:xfrm>
          <a:prstGeom prst="roundRect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YaHei"/>
              </a:rPr>
              <a:t>☁ 云端 单一真相源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4709160"/>
            <a:ext cx="914400" cy="0"/>
          </a:xfrm>
          <a:prstGeom prst="line">
            <a:avLst/>
          </a:prstGeom>
          <a:ln w="25400">
            <a:solidFill>
              <a:srgbClr val="C2683B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0" y="4297680"/>
            <a:ext cx="2926080" cy="8229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B2823"/>
                </a:solidFill>
                <a:latin typeface="Microsoft YaHei"/>
              </a:rPr>
              <a:t>💻 电脑端 深阅读/管理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03520"/>
            <a:ext cx="100584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 i="0">
                <a:solidFill>
                  <a:srgbClr val="8C8475"/>
                </a:solidFill>
                <a:latin typeface="Microsoft YaHei"/>
              </a:rPr>
              <a:t>同一套网页，同一份数据，手机与电脑共享。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Design · 理念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四条贯穿始终的设计原则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 b="1">
                <a:solidFill>
                  <a:srgbClr val="A4502B"/>
                </a:solidFill>
                <a:latin typeface="Microsoft YaHei"/>
              </a:rPr>
              <a:t>本地优先 · 数据自主 —— </a:t>
            </a:r>
            <a:r>
              <a:rPr sz="1700">
                <a:solidFill>
                  <a:srgbClr val="2B2823"/>
                </a:solidFill>
                <a:latin typeface="Microsoft YaHei"/>
              </a:rPr>
              <a:t>研究者的私密数据默认存本地，可选自建云端；不依赖任何商业平台，随时可导出。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 b="1">
                <a:solidFill>
                  <a:srgbClr val="A4502B"/>
                </a:solidFill>
                <a:latin typeface="Microsoft YaHei"/>
              </a:rPr>
              <a:t>AI 做「过滤器 / 翻译器 / 结构器」 —— </a:t>
            </a:r>
            <a:r>
              <a:rPr sz="1700">
                <a:solidFill>
                  <a:srgbClr val="2B2823"/>
                </a:solidFill>
                <a:latin typeface="Microsoft YaHei"/>
              </a:rPr>
              <a:t>不是堆砌大模型，而是用轻量 API 把信息筛成与你相关的、能读懂的、成体系的科研线索。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 b="1">
                <a:solidFill>
                  <a:srgbClr val="A4502B"/>
                </a:solidFill>
                <a:latin typeface="Microsoft YaHei"/>
              </a:rPr>
              <a:t>低摩擦捕获 —— </a:t>
            </a:r>
            <a:r>
              <a:rPr sz="1700">
                <a:solidFill>
                  <a:srgbClr val="2B2823"/>
                </a:solidFill>
                <a:latin typeface="Microsoft YaHei"/>
              </a:rPr>
              <a:t>灵感稍纵即逝，记录动作要 ≤ 2 次点击；先记下来，再整理。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 b="1">
                <a:solidFill>
                  <a:srgbClr val="A4502B"/>
                </a:solidFill>
                <a:latin typeface="Microsoft YaHei"/>
              </a:rPr>
              <a:t>科研与生活一体化 —— </a:t>
            </a:r>
            <a:r>
              <a:rPr sz="1700">
                <a:solidFill>
                  <a:srgbClr val="2B2823"/>
                </a:solidFill>
                <a:latin typeface="Microsoft YaHei"/>
              </a:rPr>
              <a:t>把生活记录与阶段回顾纳入工作台，让「复盘」成为习惯而非负担。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Highlight 01 · AI 核心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顶刊每日推荐 + 自动相关性打分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78992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5C554B"/>
                </a:solidFill>
                <a:latin typeface="Microsoft YaHei"/>
              </a:rPr>
              <a:t>不是「推论文」，而是按你的研究方向，把海量顶刊变成一份「与你相关的待读清单」。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286000"/>
            <a:ext cx="22860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OpenAlex
开放论文库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免密钥·CORS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2788920"/>
            <a:ext cx="457200" cy="0"/>
          </a:xfrm>
          <a:prstGeom prst="line">
            <a:avLst/>
          </a:prstGeom>
          <a:ln w="25400">
            <a:solidFill>
              <a:srgbClr val="8C8475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429000" y="2286000"/>
            <a:ext cx="23774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UTD24 / FT50
按 60+ 顶刊过滤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近 45 天新文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788920"/>
            <a:ext cx="457200" cy="0"/>
          </a:xfrm>
          <a:prstGeom prst="line">
            <a:avLst/>
          </a:prstGeom>
          <a:ln w="25400">
            <a:solidFill>
              <a:srgbClr val="8C8475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309360" y="2286000"/>
            <a:ext cx="237744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主题/方法词典
正则匹配打分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相关度排序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2788920"/>
            <a:ext cx="502920" cy="0"/>
          </a:xfrm>
          <a:prstGeom prst="line">
            <a:avLst/>
          </a:prstGeom>
          <a:ln w="25400">
            <a:solidFill>
              <a:srgbClr val="3A6B5E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2286000"/>
            <a:ext cx="2286000" cy="1005840"/>
          </a:xfrm>
          <a:prstGeom prst="roundRect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输出
待读清单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自动标注主题/方法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3840480"/>
            <a:ext cx="5349240" cy="822960"/>
          </a:xfrm>
          <a:prstGeom prst="roundRect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「与你方向相关」的待读清单：自动标注主题 / 方法 / 方向关联建议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3776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350" b="1">
                <a:solidFill>
                  <a:srgbClr val="A4502B"/>
                </a:solidFill>
                <a:latin typeface="Microsoft YaHei"/>
              </a:rPr>
              <a:t>数据源 OpenAlex： </a:t>
            </a:r>
            <a:r>
              <a:rPr sz="1350">
                <a:solidFill>
                  <a:srgbClr val="2B2823"/>
                </a:solidFill>
                <a:latin typeface="Microsoft YaHei"/>
              </a:rPr>
              <a:t>免费、免密钥、浏览器可直连，覆盖 UTD24/FT50 等 60+ 顶刊近 45 天新文。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350" b="1">
                <a:solidFill>
                  <a:srgbClr val="A4502B"/>
                </a:solidFill>
                <a:latin typeface="Microsoft YaHei"/>
              </a:rPr>
              <a:t>方向/方法词典： </a:t>
            </a:r>
            <a:r>
              <a:rPr sz="1350">
                <a:solidFill>
                  <a:srgbClr val="2B2823"/>
                </a:solidFill>
                <a:latin typeface="Microsoft YaHei"/>
              </a:rPr>
              <a:t>内置数字化转型、AI、创新、专利等主题与 DID/IV/文本分析等方法，自动打分。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5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350" b="1">
                <a:solidFill>
                  <a:srgbClr val="A4502B"/>
                </a:solidFill>
                <a:latin typeface="Microsoft YaHei"/>
              </a:rPr>
              <a:t>结果当日缓存： </a:t>
            </a:r>
            <a:r>
              <a:rPr sz="1350">
                <a:solidFill>
                  <a:srgbClr val="2B2823"/>
                </a:solidFill>
                <a:latin typeface="Microsoft YaHei"/>
              </a:rPr>
              <a:t>每天只请求一次，省流量也更快。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Highlight 02 · 降门槛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一键摘要翻译：把顶刊读「懂」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>主通道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微软 Edge 翻译接口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免密钥、CORS 开放、国内可直连。Token 8 分钟缓存，按论文 id 缓存译文，同一篇只翻一次。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>备用通道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Google gtx 兜底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主通道异常时自动切换，保证「读得了」。带超时控制，单篇不卡死整体。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84048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>
                <a:solidFill>
                  <a:srgbClr val="5C554B"/>
                </a:solidFill>
                <a:latin typeface="Microsoft YaHei"/>
              </a:rPr>
              <a:t>价值：把英文摘要、方法说明翻译成中文对照，显著降低顶刊阅读门槛——尤其对快速判断「这篇与我何干」极为高效。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8C8475"/>
                </a:solidFill>
                <a:latin typeface="Microsoft YaHei"/>
              </a:rPr>
              <a:t>设计取舍：用免费公开接口而非自建模型服务，符合「零成本、可直连、易维护」的个人工具定位。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Highlight 03 · 管理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科研全生命周期，一处管完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📄 论文追踪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选题构思→文献综述→方法设计→初稿→投稿→返修→录用→发表，阶段流一目了然。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📁 项目 / 方向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学术研究、学科竞赛、实习实践分类型管理；研究方向独立成册，论文可挂接方向。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📝 笔记 / 成果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研读笔记随手写；成果档案（论文/项目/获奖/会议）自动统计，一键导出清单。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>
                <a:solidFill>
                  <a:srgbClr val="5C554B"/>
                </a:solidFill>
                <a:latin typeface="Microsoft YaHei"/>
              </a:rPr>
              <a:t>把「想到—读—做—成」的闭环沉淀在同一处，减少在不同工具间搬运的损耗。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Highlight 04 · 复盘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生活侧写 + 阶段回顾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🌿 生活记录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运动（次数/时长/连续天数）、阅读与观影、旅行计划、习惯打卡——科研之外，生活也被温柔记录。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3492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📊 周 / 月 / 年回顾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自动生成阶段小结与完成率条形图，把科研进展、生活记录、阅读思考、习惯坚持汇成一份「给自己的复盘」。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3A6B5E"/>
                </a:solidFill>
                <a:latin typeface="Microsoft YaHei"/>
              </a:rPr>
              <a:t>设计主张：研究者首先是完整的人。回顾功能让长期主义可见、可坚持。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Highlight 05 · 捕获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灵感收集箱 + 快速记录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>
                <a:solidFill>
                  <a:srgbClr val="2B2823"/>
                </a:solidFill>
                <a:latin typeface="Microsoft YaHei"/>
              </a:rPr>
              <a:t>右下角悬浮按钮（FAB）随时唤起速记面板，灵感/选题/文献/生活/待办一键分类入箱。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>
                <a:solidFill>
                  <a:srgbClr val="2B2823"/>
                </a:solidFill>
                <a:latin typeface="Microsoft YaHei"/>
              </a:rPr>
              <a:t>支持「存为今日任务」，捕获即行动，灵感不流失到别处。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7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700">
                <a:solidFill>
                  <a:srgbClr val="2B2823"/>
                </a:solidFill>
                <a:latin typeface="Microsoft YaHei"/>
              </a:rPr>
              <a:t>首页置顶「随手记一条灵感 / 选题…」，低摩擦、零心智负担，契合知识工作的即兴性。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60704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 i="0">
                <a:solidFill>
                  <a:srgbClr val="8C8475"/>
                </a:solidFill>
                <a:latin typeface="Microsoft YaHei"/>
              </a:rPr>
              <a:t>这是「低摩擦捕获」原则最直接的产品落点：先收集、后整理，避免好点子沉没。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Value · 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研习台带来的改变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2B2823"/>
                </a:solidFill>
                <a:latin typeface="Microsoft YaHei"/>
              </a:rPr>
              <a:t>从「信息过载」→ 到「相关性筛选」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AI 替你过滤，注意力回到真正相关的文献。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2B2823"/>
                </a:solidFill>
                <a:latin typeface="Microsoft YaHei"/>
              </a:rPr>
              <a:t>从「收藏沉睡」→ 到「读得懂、用得上」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翻译 + 方向关联，让顶刊真正进入思考。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47472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500" b="1">
                <a:solidFill>
                  <a:srgbClr val="2B2823"/>
                </a:solidFill>
                <a:latin typeface="Microsoft YaHei"/>
              </a:rPr>
              <a:t>从「跨端割裂」→ 到「一处更新、处处同步」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手机记、电脑管，数据自主不锁死。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Technical · 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技术路线：一个纯前端的轻量架构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1089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浏览器（手机 / 电脑）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同一套响应式 SPA
Vanilla JS · 零框架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2103120"/>
            <a:ext cx="31089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静态托管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GitHub Pages
一键 deploy.bat 发布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280160"/>
            <a:ext cx="3108960" cy="1097280"/>
          </a:xfrm>
          <a:prstGeom prst="roundRect">
            <a:avLst/>
          </a:prstGeom>
          <a:solidFill>
            <a:srgbClr val="3E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开放 API（免密钥）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OpenAlex · 论文
Edge/Google · 翻译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3200400"/>
            <a:ext cx="3108960" cy="1097280"/>
          </a:xfrm>
          <a:prstGeom prst="roundRect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存储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localStorage（本地优先）
JSONBin（可选云端）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749039" y="2743200"/>
            <a:ext cx="365761" cy="0"/>
          </a:xfrm>
          <a:prstGeom prst="line">
            <a:avLst/>
          </a:prstGeom>
          <a:ln w="25400">
            <a:solidFill>
              <a:srgbClr val="8C8475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7223760" y="1737360"/>
            <a:ext cx="365760" cy="91440"/>
          </a:xfrm>
          <a:prstGeom prst="line">
            <a:avLst/>
          </a:prstGeom>
          <a:ln w="25400">
            <a:solidFill>
              <a:srgbClr val="3E6CA8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223760" y="3108960"/>
            <a:ext cx="365760" cy="457200"/>
          </a:xfrm>
          <a:prstGeom prst="line">
            <a:avLst/>
          </a:prstGeom>
          <a:ln w="25400">
            <a:solidFill>
              <a:srgbClr val="3A6B5E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" y="4754880"/>
            <a:ext cx="10881360" cy="9144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0" i="0">
                <a:solidFill>
                  <a:srgbClr val="5C554B"/>
                </a:solidFill>
                <a:latin typeface="Microsoft YaHei"/>
              </a:rPr>
              <a:t>一句话：前端即应用，开放 API 即服务，浏览器即数据库。零服务器成本，个人即可长期维护。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Core · 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移动端与电脑端，如何同步？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5C554B"/>
                </a:solidFill>
                <a:latin typeface="Microsoft YaHei"/>
              </a:rPr>
              <a:t>三层方案，层层兜底，保证「一处更新、处处同步」且手机/电脑体验一致。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94560"/>
            <a:ext cx="3520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>第一层 · 同源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同一套代码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同一份静态托管（GitHub Pages），手机电脑打开同一 URL 即同一应用。断点 780px 切换导航形态：桌面侧栏 ↔ 移动底部 Tab，数据与逻辑完全共用。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94560"/>
            <a:ext cx="352044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>第二层 · 同步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本地优先 + 云端真相源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整份应用状态 = 一个 JSON。localStorage 本地优先；开启同步后存 JSONBin 云端，启动拉取、本地更旧则采用云端（last-write-wins + 时间戳），保存防抖后推送。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47472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>第三层 · 更新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版本自更新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每次发布更新 version.txt；手机端打开时 checkUpdate 发现新版本自动重载，无需应用商店即可拿到新功能。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46320"/>
            <a:ext cx="1088136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50" b="0" i="0">
                <a:solidFill>
                  <a:srgbClr val="8C8475"/>
                </a:solidFill>
                <a:latin typeface="Microsoft YaHei"/>
              </a:rPr>
              <a:t>降级策略：未配置云端 / 断网时，自动回退为纯本地（localStorage），功能不中断——「优雅降级」原则的体现。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Core · 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同步时序：手机 ↔ 云端 ↔ 电脑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310896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B2823"/>
                </a:solidFill>
                <a:latin typeface="Microsoft YaHei"/>
              </a:rPr>
              <a:t>📱 手机端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localStorage + 推送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2651760"/>
            <a:ext cx="3108960" cy="1188720"/>
          </a:xfrm>
          <a:prstGeom prst="roundRect">
            <a:avLst/>
          </a:prstGeom>
          <a:solidFill>
            <a:srgbClr val="3A6B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☁ JSONBin 云端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单一真相源（一个 Bin）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011680"/>
            <a:ext cx="3108960" cy="1188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400" b="1">
                <a:solidFill>
                  <a:srgbClr val="2B2823"/>
                </a:solidFill>
                <a:latin typeface="Microsoft YaHei"/>
              </a:rPr>
              <a:t>💻 电脑端</a:t>
            </a:r>
          </a:p>
          <a:p>
            <a:pPr algn="ctr"/>
            <a:r>
              <a:rPr sz="1100">
                <a:solidFill>
                  <a:srgbClr val="5C554B"/>
                </a:solidFill>
                <a:latin typeface="Microsoft YaHei"/>
              </a:rPr>
              <a:t>localStorage + 拉取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3291840" y="2743200"/>
            <a:ext cx="1234440" cy="182880"/>
          </a:xfrm>
          <a:prstGeom prst="line">
            <a:avLst/>
          </a:prstGeom>
          <a:ln w="25400">
            <a:solidFill>
              <a:srgbClr val="C2683B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83280" y="237744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2683B"/>
                </a:solidFill>
                <a:latin typeface="Microsoft YaHei"/>
              </a:rPr>
              <a:t>启动 pull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4526280" y="2743200"/>
            <a:ext cx="3703320" cy="457200"/>
          </a:xfrm>
          <a:prstGeom prst="line">
            <a:avLst/>
          </a:prstGeom>
          <a:ln w="25400">
            <a:solidFill>
              <a:srgbClr val="C2683B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98079" y="237744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C2683B"/>
                </a:solidFill>
                <a:latin typeface="Microsoft YaHei"/>
              </a:rPr>
              <a:t>启动 pull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1840" y="2743200"/>
            <a:ext cx="1234440" cy="365760"/>
          </a:xfrm>
          <a:prstGeom prst="line">
            <a:avLst/>
          </a:prstGeom>
          <a:ln w="25400">
            <a:solidFill>
              <a:srgbClr val="3A6B5E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566160" y="338328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3A6B5E"/>
                </a:solidFill>
                <a:latin typeface="Microsoft YaHei"/>
              </a:rPr>
              <a:t>保存 push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4526280" y="2743200"/>
            <a:ext cx="3703320" cy="548640"/>
          </a:xfrm>
          <a:prstGeom prst="line">
            <a:avLst/>
          </a:prstGeom>
          <a:ln w="25400">
            <a:solidFill>
              <a:srgbClr val="3A6B5E"/>
            </a:solidFill>
            <a:tailEnd type="triangle" w="med" len="med"/>
            <a:head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35040" y="3383280"/>
            <a:ext cx="109728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 i="0">
                <a:solidFill>
                  <a:srgbClr val="3A6B5E"/>
                </a:solidFill>
                <a:latin typeface="Microsoft YaHei"/>
              </a:rPr>
              <a:t>保存 push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881360" cy="1280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E2D9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1300" b="1">
                <a:solidFill>
                  <a:srgbClr val="2B2823"/>
                </a:solidFill>
                <a:latin typeface="Microsoft YaHei"/>
              </a:rPr>
              <a:t>冲突处理：last-write-wins（以 savedAt 时间戳为准）；推送前 700ms 防抖 + 单飞（in-flight），避免并发覆盖。
适用场景：单人多端、非并发编辑——个人知识工作的典型形态。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Core · 零成本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零成本开放 API 架构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📚 OpenAlex（论文）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完全免费、无需密钥、支持浏览器跨域直连。按期刊 ISSN + 时间窗过滤，返回结构化 JSON，前端直接计算相关性。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🌐 Edge / Google（翻译）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微软 Edge 翻译接口国内可直连、免密钥；Google gtx 作兜底。两通道皆带超时，保障可用。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000" b="1" i="0">
                <a:solidFill>
                  <a:srgbClr val="2B2823"/>
                </a:solidFill>
                <a:latin typeface="Microsoft YaHei"/>
              </a:rPr>
              <a:t>可复用的缓存策略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500" b="1">
                <a:solidFill>
                  <a:srgbClr val="A4502B"/>
                </a:solidFill>
                <a:latin typeface="Microsoft YaHei"/>
              </a:rPr>
              <a:t>论文推荐： </a:t>
            </a:r>
            <a:r>
              <a:rPr sz="1500">
                <a:solidFill>
                  <a:srgbClr val="2B2823"/>
                </a:solidFill>
                <a:latin typeface="Microsoft YaHei"/>
              </a:rPr>
              <a:t>按「当天」缓存到 localStorage，每日只请求一次。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500" b="1">
                <a:solidFill>
                  <a:srgbClr val="A4502B"/>
                </a:solidFill>
                <a:latin typeface="Microsoft YaHei"/>
              </a:rPr>
              <a:t>摘要译文： </a:t>
            </a:r>
            <a:r>
              <a:rPr sz="1500">
                <a:solidFill>
                  <a:srgbClr val="2B2823"/>
                </a:solidFill>
                <a:latin typeface="Microsoft YaHei"/>
              </a:rPr>
              <a:t>按论文 id 缓存，同一篇只翻译一次；缓存上限 240 条，超量按时间淘汰。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5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500" b="1">
                <a:solidFill>
                  <a:srgbClr val="A4502B"/>
                </a:solidFill>
                <a:latin typeface="Microsoft YaHei"/>
              </a:rPr>
              <a:t>统一收益： </a:t>
            </a:r>
            <a:r>
              <a:rPr sz="1500">
                <a:solidFill>
                  <a:srgbClr val="2B2823"/>
                </a:solidFill>
                <a:latin typeface="Microsoft YaHei"/>
              </a:rPr>
              <a:t>省流量、提速、降低对第三方接口的依赖与受限风险。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Core · 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值得复用的工程实践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600" b="1">
                <a:solidFill>
                  <a:srgbClr val="A4502B"/>
                </a:solidFill>
                <a:latin typeface="Microsoft YaHei"/>
              </a:rPr>
              <a:t>单一数据源 + 规范化（normalize）： </a:t>
            </a:r>
            <a:r>
              <a:rPr sz="1600">
                <a:solidFill>
                  <a:srgbClr val="2B2823"/>
                </a:solidFill>
                <a:latin typeface="Microsoft YaHei"/>
              </a:rPr>
              <a:t>整份应用状态是一个 JSON 对象；读入即归一（补默认字段、修类型），渲染层永远拿到「干净」的结构。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600" b="1">
                <a:solidFill>
                  <a:srgbClr val="A4502B"/>
                </a:solidFill>
                <a:latin typeface="Microsoft YaHei"/>
              </a:rPr>
              <a:t>版本迁移（v1 → v2）： </a:t>
            </a:r>
            <a:r>
              <a:rPr sz="1600">
                <a:solidFill>
                  <a:srgbClr val="2B2823"/>
                </a:solidFill>
                <a:latin typeface="Microsoft YaHei"/>
              </a:rPr>
              <a:t>旧数据自动拆分项目/论文、ICS 任务转日历事件，老用户升级无感。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600" b="1">
                <a:solidFill>
                  <a:srgbClr val="A4502B"/>
                </a:solidFill>
                <a:latin typeface="Microsoft YaHei"/>
              </a:rPr>
              <a:t>渐进增强 / 优雅降级： </a:t>
            </a:r>
            <a:r>
              <a:rPr sz="1600">
                <a:solidFill>
                  <a:srgbClr val="2B2823"/>
                </a:solidFill>
                <a:latin typeface="Microsoft YaHei"/>
              </a:rPr>
              <a:t>同步失败不阻塞、翻译失败回退、本地存储满则放弃缓存——任何一环出问题，核心功能仍可工作。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600" b="1">
                <a:solidFill>
                  <a:srgbClr val="C2683B"/>
                </a:solidFill>
                <a:latin typeface="Microsoft YaHei"/>
              </a:rPr>
              <a:t>•  </a:t>
            </a:r>
            <a:r>
              <a:rPr sz="1600" b="1">
                <a:solidFill>
                  <a:srgbClr val="A4502B"/>
                </a:solidFill>
                <a:latin typeface="Microsoft YaHei"/>
              </a:rPr>
              <a:t>零框架、零构建： </a:t>
            </a:r>
            <a:r>
              <a:rPr sz="1600">
                <a:solidFill>
                  <a:srgbClr val="2B2823"/>
                </a:solidFill>
                <a:latin typeface="Microsoft YaHei"/>
              </a:rPr>
              <a:t>纯 HTML/CSS/JS，单文件即可运行；也可打包进 dist/。维护成本低，适合个人长期持有。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Other · 反思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方法论：AI 在知识工作中的三角色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3520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🔻 过滤器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从信息洪流中筛出「与我相关」，对抗注意力稀释。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920240"/>
            <a:ext cx="35204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🔤 翻译器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把语言/方法门槛拉平，让顶刊真正可读可用。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920240"/>
            <a:ext cx="347472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/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🧱 结构器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把零散灵感组织成可追踪的科研进程与复盘。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700" b="1" i="0">
                <a:solidFill>
                  <a:srgbClr val="A4502B"/>
                </a:solidFill>
                <a:latin typeface="Microsoft YaHei"/>
              </a:rPr>
              <a:t>元实践视角：这个工具本身的构建，也是「用 AI 辅助完成 AI 工具」的开放知识工作范例——需求、设计、编码、部署一体打通。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Other · 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1381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局限与下一步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C2683B"/>
                </a:solidFill>
                <a:latin typeface="Microsoft YaHei"/>
              </a:rPr>
              <a:t>当前局限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同步是「近似一致」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last-write-wins 适合单人多端非并发；若两端同时改，后写覆盖先写，无自动合并。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92024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A6B5E"/>
                </a:solidFill>
                <a:latin typeface="Microsoft YaHei"/>
              </a:rPr>
              <a:t>下一步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真正的多端实时协同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引入 Yjs / CRDT 做字段级合并，支持离线编辑后无冲突合并；可拓展到多人课题组共用。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A4502B"/>
                </a:solidFill>
                <a:latin typeface="Microsoft YaHei"/>
              </a:rPr>
              <a:t>当前局限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翻译依赖第三方免费接口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受配额与可用性影响，需关注稳定性。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349240" cy="1737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9C8"/>
            </a:solidFill>
          </a:ln>
          <a:effectLst/>
          <a:effectLst>
            <a:outerShdw blur="90000" dist="45000" dir="5400000" rotWithShape="0">
              <a:srgbClr val="3C322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27000" bIns="127000"/>
          <a:lstStyle/>
          <a:p>
            <a:pPr algn="ctr"/>
            <a:r>
              <a:rPr sz="1100" b="1">
                <a:solidFill>
                  <a:srgbClr val="3E6CA8"/>
                </a:solidFill>
                <a:latin typeface="Microsoft YaHei"/>
              </a:rPr>
              <a:t>下一步</a:t>
            </a:r>
          </a:p>
          <a:p>
            <a:pPr>
              <a:spcBef>
                <a:spcPts val="400"/>
              </a:spcBef>
            </a:pPr>
            <a:r>
              <a:rPr sz="1600" b="1">
                <a:solidFill>
                  <a:srgbClr val="2B2823"/>
                </a:solidFill>
                <a:latin typeface="Microsoft YaHei"/>
              </a:rPr>
              <a:t>能力延展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5C554B"/>
                </a:solidFill>
                <a:latin typeface="Microsoft YaHei"/>
              </a:rPr>
              <a:t>RSS 订阅、BibTeX 导出、Notion 同步、AI 摘要总结；并把推荐词典做成可自定义。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731520"/>
            <a:ext cx="822960" cy="822960"/>
          </a:xfrm>
          <a:prstGeom prst="round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8686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A4502B"/>
                </a:solidFill>
                <a:latin typeface="Microsoft YaHei"/>
              </a:rPr>
              <a:t>Closing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0" y="1179576"/>
            <a:ext cx="292608" cy="41148"/>
          </a:xfrm>
          <a:prstGeom prst="rect">
            <a:avLst/>
          </a:prstGeom>
          <a:solidFill>
            <a:srgbClr val="C26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1188720"/>
            <a:ext cx="105156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000" b="1" i="0">
                <a:solidFill>
                  <a:srgbClr val="2B2823"/>
                </a:solidFill>
                <a:latin typeface="Microsoft YaHei"/>
              </a:rPr>
              <a:t>让 AI 成为知识工作的「第一道工序」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377440"/>
            <a:ext cx="9601200" cy="1645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900" b="0" i="0">
                <a:solidFill>
                  <a:srgbClr val="5C554B"/>
                </a:solidFill>
                <a:latin typeface="Microsoft YaHei"/>
              </a:rPr>
              <a:t>研习台不是一个更大的收藏夹，而是一套把开放信息转化为个人科研动能的工作方法：同源跨端、数据自主、AI 过滤与结构化。它既是成果，也是方法的载体。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89120"/>
            <a:ext cx="914400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0" i="0">
                <a:solidFill>
                  <a:srgbClr val="8C8475"/>
                </a:solidFill>
                <a:latin typeface="Microsoft YaHei"/>
              </a:rPr>
              <a:t>感谢聆听 · 欢迎讨论与拍砖 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3716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 i="0">
                <a:solidFill>
                  <a:srgbClr val="8C8475"/>
                </a:solidFill>
                <a:latin typeface="Microsoft YaHei"/>
              </a:rP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